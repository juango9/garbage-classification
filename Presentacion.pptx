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94-4074-86E8-96C66E9D892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94-4074-86E8-96C66E9D892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94-4074-86E8-96C66E9D892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B94-4074-86E8-96C66E9D892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B94-4074-86E8-96C66E9D8921}"/>
              </c:ext>
            </c:extLst>
          </c:dPt>
          <c:dPt>
            <c:idx val="5"/>
            <c:invertIfNegative val="0"/>
            <c:bubble3D val="0"/>
            <c:spPr>
              <a:solidFill>
                <a:srgbClr val="6FCF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B94-4074-86E8-96C66E9D8921}"/>
              </c:ext>
            </c:extLst>
          </c:dPt>
          <c:dPt>
            <c:idx val="6"/>
            <c:invertIfNegative val="0"/>
            <c:bubble3D val="0"/>
            <c:spPr>
              <a:solidFill>
                <a:srgbClr val="6FCF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B94-4074-86E8-96C66E9D892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0,45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B94-4074-86E8-96C66E9D892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0,6640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B94-4074-86E8-96C66E9D892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0,38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B94-4074-86E8-96C66E9D892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0,8538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B94-4074-86E8-96C66E9D892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0,8735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B94-4074-86E8-96C66E9D892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0,8972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B94-4074-86E8-96C66E9D892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0,9051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B94-4074-86E8-96C66E9D892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3A2D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Log. Regresión</c:v>
                </c:pt>
                <c:pt idx="1">
                  <c:v>Random Forest</c:v>
                </c:pt>
                <c:pt idx="2">
                  <c:v>CNN básica</c:v>
                </c:pt>
                <c:pt idx="3">
                  <c:v>CNN Model 3</c:v>
                </c:pt>
                <c:pt idx="4">
                  <c:v>ResNet50</c:v>
                </c:pt>
                <c:pt idx="5">
                  <c:v>EfficientNetB0</c:v>
                </c:pt>
                <c:pt idx="6">
                  <c:v>DenseNet121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0.45</c:v>
                </c:pt>
                <c:pt idx="1">
                  <c:v>0.66400000000000003</c:v>
                </c:pt>
                <c:pt idx="2">
                  <c:v>0.38</c:v>
                </c:pt>
                <c:pt idx="3">
                  <c:v>0.8538</c:v>
                </c:pt>
                <c:pt idx="4">
                  <c:v>0.87350000000000005</c:v>
                </c:pt>
                <c:pt idx="5">
                  <c:v>0.8972</c:v>
                </c:pt>
                <c:pt idx="6">
                  <c:v>0.90510000000000002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B94-4074-86E8-96C66E9D89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00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46E6-9005-53AC-DF1E-9DD90F8B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BA983-EF47-CB67-EE09-34C9EC206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34A4E-4BD5-E1F1-C3A0-3DC91A93B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7859-970E-FB18-6A82-DA84DA042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2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73152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CLASIFICACIÓN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AUTOMÁTICA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RESIDUOS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9090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Gómez Díaz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32004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008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Cartón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0" y="32004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3152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Vidrio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32004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2296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3611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400800" y="3611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Papel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0" y="3611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315200" y="3611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Plástico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29600" y="36118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6FCF57">
              <a:alpha val="6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229600" y="3611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Basura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970D2F-A26E-DE47-BF12-15545F7FCBBA}"/>
              </a:ext>
            </a:extLst>
          </p:cNvPr>
          <p:cNvSpPr/>
          <p:nvPr/>
        </p:nvSpPr>
        <p:spPr>
          <a:xfrm>
            <a:off x="4572000" y="3886200"/>
            <a:ext cx="13478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profundo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NECESITAMOS ESTO?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200400" cy="237744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6FCF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millones de toneladas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residuos generados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en el mundo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2423160" cy="237744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931920" y="1234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CLASIFICACIÓN MANUAL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Lento y caro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2167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Alta tasa de error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551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escalable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2935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Dependencia humana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188720"/>
            <a:ext cx="2423160" cy="237744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537960" y="1234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CLASIFICACIÓN AUTOMÁTICA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Rápido y eficiente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167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Alta precisión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551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Escalable al 100%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935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Consistente 24/7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6FCF57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Clasificador de residuos en 6 categorías — Cartón · Vidrio · Metal · Papel · Plástico · Basura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METODOLOGÍA Y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188720"/>
          </a:xfrm>
          <a:prstGeom prst="rect">
            <a:avLst/>
          </a:prstGeom>
          <a:solidFill>
            <a:srgbClr val="EEF6E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64008" cy="118872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30352" y="1261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~2,500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reales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188720"/>
          </a:xfrm>
          <a:prstGeom prst="rect">
            <a:avLst/>
          </a:prstGeom>
          <a:solidFill>
            <a:srgbClr val="EEF6E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64008" cy="118872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64992" y="1261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64992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distintas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188720"/>
          </a:xfrm>
          <a:prstGeom prst="rect">
            <a:avLst/>
          </a:prstGeom>
          <a:solidFill>
            <a:srgbClr val="EEF6E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64008" cy="118872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99632" y="12618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80/10/10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99632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DEL SISTEMA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1920240" cy="118872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Residuo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04288" y="33832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FCF57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2971800"/>
            <a:ext cx="1920240" cy="118872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51460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53128" y="33832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FCF57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1920240" cy="118872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66344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1968" y="33832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FCF57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12280" y="2971800"/>
            <a:ext cx="1920240" cy="118872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81228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C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principal: Accuracy = predicciones correctas / total de predicciones  ·  También: Precision, Recall y F1-score por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62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EVOLUCIÓN DE MODELOS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57829344"/>
              </p:ext>
            </p:extLst>
          </p:nvPr>
        </p:nvGraphicFramePr>
        <p:xfrm>
          <a:off x="274320" y="109728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3017520" cy="804672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943600" y="1115568"/>
            <a:ext cx="100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0,45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95160" y="1115568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(features lineales insuficientes)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1993392"/>
            <a:ext cx="3017520" cy="804672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080760" y="2003679"/>
            <a:ext cx="77724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0,6640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95160" y="2011680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relaciones espaciales)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2889504"/>
            <a:ext cx="3017520" cy="804672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080760" y="2915303"/>
            <a:ext cx="777240" cy="545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0,8538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95160" y="290779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desde cero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(representa patrones visuales)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3785616"/>
            <a:ext cx="3017520" cy="804672"/>
          </a:xfrm>
          <a:prstGeom prst="rect">
            <a:avLst/>
          </a:prstGeom>
          <a:solidFill>
            <a:srgbClr val="6FCF5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943600" y="3905957"/>
            <a:ext cx="1005840" cy="56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0,9051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95160" y="3803904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DenseNet121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(Transfer Learning)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RETOS Y PROBLEMAS ENCONTRADOS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88920" cy="356616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4864" cy="356616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48056" y="12801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Sobreajuste constante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" y="1856232"/>
            <a:ext cx="2468880" cy="27432"/>
          </a:xfrm>
          <a:prstGeom prst="rect">
            <a:avLst/>
          </a:prstGeom>
          <a:solidFill>
            <a:srgbClr val="6FCF57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48056" y="2011680"/>
            <a:ext cx="2587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todos los modelos memorizaban el train (&gt;99%) sin generalizar bien al test. Lo combatimos con Dropout en las capas densas, ReduceLROnPlateau para ajustar el learning rate automáticamente y EarlyStopping para restaurar el mejor checkpoint.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88920" cy="356616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54864" cy="356616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74136" y="12801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'Basura' es casi inclasificable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74136" y="1856232"/>
            <a:ext cx="2468880" cy="27432"/>
          </a:xfrm>
          <a:prstGeom prst="rect">
            <a:avLst/>
          </a:prstGeom>
          <a:solidFill>
            <a:srgbClr val="6FCF57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74136" y="2011680"/>
            <a:ext cx="2587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clase más difícil de todas: agrupa objetos muy heterogéneos que no encajan en ninguna otra categoría, por lo que no tiene un patrón visual claro. Ningún modelo consigue superar el 80% de recall en ella, ni siquiera DenseNet121.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88920" cy="356616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54864" cy="356616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300216" y="128016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parámetros ≠ mejor resultado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0216" y="1856232"/>
            <a:ext cx="2468880" cy="27432"/>
          </a:xfrm>
          <a:prstGeom prst="rect">
            <a:avLst/>
          </a:prstGeom>
          <a:solidFill>
            <a:srgbClr val="6FCF57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00216" y="2011680"/>
            <a:ext cx="2587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Models 4 y 5 eran más grandes que el Model 3 pero rendían peor en test. Aumentar el ancho de red sin criterio no ayuda — la arquitectura y la regularización importan más que el número bruto de parámetros.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 MODELO: DenseNet121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926080" cy="32004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6FCF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0,9051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2194560" cy="36576"/>
          </a:xfrm>
          <a:prstGeom prst="rect">
            <a:avLst/>
          </a:prstGeom>
          <a:solidFill>
            <a:srgbClr val="6FCF57">
              <a:alpha val="5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FCF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POR CLASE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6164"/>
              </p:ext>
            </p:extLst>
          </p:nvPr>
        </p:nvGraphicFramePr>
        <p:xfrm>
          <a:off x="3566160" y="1508760"/>
          <a:ext cx="5303520" cy="24323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FC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FC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FC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FCF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Plástico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Basura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6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566160" y="4389120"/>
            <a:ext cx="1600200" cy="457200"/>
          </a:xfrm>
          <a:prstGeom prst="rect">
            <a:avLst/>
          </a:prstGeom>
          <a:solidFill>
            <a:srgbClr val="3D6B5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566160" y="4389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0,9960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49240" y="4389120"/>
            <a:ext cx="160020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349240" y="4389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Val: 0,9289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0" y="4389120"/>
            <a:ext cx="1600200" cy="45720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132320" y="4389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0,9051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EVALUACIÓN DE ROBUSTEZ Y REPRODUCIBILIDAD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301327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repitió el entrenamiento de los dos mejores modelos con 4 semillas distintas (42, 123, 7, 99) para estimar la variabilidad real del rendimiento.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" y="1908810"/>
            <a:ext cx="64008" cy="132588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10540" y="1892617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DenseNet121 — Modelo 9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69920"/>
              </p:ext>
            </p:extLst>
          </p:nvPr>
        </p:nvGraphicFramePr>
        <p:xfrm>
          <a:off x="320040" y="2212657"/>
          <a:ext cx="4114800" cy="23591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F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F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54EB3B-D41C-0275-6902-169000259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116" y="2212657"/>
            <a:ext cx="4114800" cy="235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 Y PRÓXIMOS PASOS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291840"/>
          </a:xfrm>
          <a:prstGeom prst="rect">
            <a:avLst/>
          </a:prstGeom>
          <a:solidFill>
            <a:srgbClr val="EEF6E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LOGRAMOS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0.9051 de accuracy en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Validación con 4 semillas distintas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 modelos lineales a Transfer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455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DenseNet121 como modelo final robusto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Sistema reproducible y escalable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4206240" cy="3291840"/>
          </a:xfrm>
          <a:prstGeom prst="rect">
            <a:avLst/>
          </a:prstGeom>
          <a:solidFill>
            <a:srgbClr val="1B3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4206240" cy="457200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3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7190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Data augmentation más agresivo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Más imágenes de la clase 'Basura'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Probar modelos mas eficientes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6FCF57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72BF-8A4B-53CF-1F00-E59316B1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EABB13-0C4F-0BAB-81AB-0B32C47A5976}"/>
              </a:ext>
            </a:extLst>
          </p:cNvPr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072457-4629-5CE0-2756-3156EAD6FA7D}"/>
              </a:ext>
            </a:extLst>
          </p:cNvPr>
          <p:cNvSpPr/>
          <p:nvPr/>
        </p:nvSpPr>
        <p:spPr>
          <a:xfrm>
            <a:off x="0" y="4297680"/>
            <a:ext cx="9144000" cy="73152"/>
          </a:xfrm>
          <a:prstGeom prst="rect">
            <a:avLst/>
          </a:prstGeom>
          <a:solidFill>
            <a:srgbClr val="6FCF5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3B856BF-8D89-CB5C-901B-769D65745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97280"/>
            <a:ext cx="2103120" cy="2103120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FA4FAD22-5EC6-DCA8-2684-6467154EA393}"/>
              </a:ext>
            </a:extLst>
          </p:cNvPr>
          <p:cNvSpPr/>
          <p:nvPr/>
        </p:nvSpPr>
        <p:spPr>
          <a:xfrm>
            <a:off x="2160693" y="1996017"/>
            <a:ext cx="165946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</a:t>
            </a: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RESIDUOS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173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509</Words>
  <Application>Microsoft Office PowerPoint</Application>
  <PresentationFormat>Presentación en pantalla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Residuos con Deep Learning</dc:title>
  <dc:subject>PptxGenJS Presentation</dc:subject>
  <dc:creator>Juan Gómez Díaz</dc:creator>
  <cp:lastModifiedBy>Juan Gomez Diaz</cp:lastModifiedBy>
  <cp:revision>8</cp:revision>
  <dcterms:created xsi:type="dcterms:W3CDTF">2026-03-30T08:12:10Z</dcterms:created>
  <dcterms:modified xsi:type="dcterms:W3CDTF">2026-03-31T19:18:48Z</dcterms:modified>
</cp:coreProperties>
</file>