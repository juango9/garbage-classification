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1" d="100"/>
          <a:sy n="141" d="100"/>
        </p:scale>
        <p:origin x="13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Accuracy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B94-4074-86E8-96C66E9D892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1B94-4074-86E8-96C66E9D8921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1B94-4074-86E8-96C66E9D8921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1B94-4074-86E8-96C66E9D8921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1B94-4074-86E8-96C66E9D8921}"/>
              </c:ext>
            </c:extLst>
          </c:dPt>
          <c:dPt>
            <c:idx val="5"/>
            <c:invertIfNegative val="0"/>
            <c:bubble3D val="0"/>
            <c:spPr>
              <a:solidFill>
                <a:srgbClr val="6FCF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B94-4074-86E8-96C66E9D8921}"/>
              </c:ext>
            </c:extLst>
          </c:dPt>
          <c:dPt>
            <c:idx val="6"/>
            <c:invertIfNegative val="0"/>
            <c:bubble3D val="0"/>
            <c:spPr>
              <a:solidFill>
                <a:srgbClr val="6FCF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B94-4074-86E8-96C66E9D8921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0,45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1B94-4074-86E8-96C66E9D8921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/>
                      <a:t>0,6640</a:t>
                    </a:r>
                    <a:endParaRPr lang="en-US" dirty="0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1B94-4074-86E8-96C66E9D8921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0,38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1B94-4074-86E8-96C66E9D8921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/>
                      <a:t>0,8538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1B94-4074-86E8-96C66E9D8921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0,8735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1B94-4074-86E8-96C66E9D8921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dirty="0"/>
                      <a:t>0,8972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1B94-4074-86E8-96C66E9D8921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0,9051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1B94-4074-86E8-96C66E9D8921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B3A2D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Log. Regresión</c:v>
                </c:pt>
                <c:pt idx="1">
                  <c:v>Random Forest</c:v>
                </c:pt>
                <c:pt idx="2">
                  <c:v>CNN básica</c:v>
                </c:pt>
                <c:pt idx="3">
                  <c:v>CNN Model 3</c:v>
                </c:pt>
                <c:pt idx="4">
                  <c:v>ResNet50</c:v>
                </c:pt>
                <c:pt idx="5">
                  <c:v>EfficientNetB0</c:v>
                </c:pt>
                <c:pt idx="6">
                  <c:v>DenseNet121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0.45</c:v>
                </c:pt>
                <c:pt idx="1">
                  <c:v>0.66400000000000003</c:v>
                </c:pt>
                <c:pt idx="2">
                  <c:v>0.38</c:v>
                </c:pt>
                <c:pt idx="3">
                  <c:v>0.8538</c:v>
                </c:pt>
                <c:pt idx="4">
                  <c:v>0.87350000000000005</c:v>
                </c:pt>
                <c:pt idx="5">
                  <c:v>0.8972</c:v>
                </c:pt>
                <c:pt idx="6">
                  <c:v>0.90510000000000002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B94-4074-86E8-96C66E9D892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0005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B46E6-9005-53AC-DF1E-9DD90F8B0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0BA983-EF47-CB67-EE09-34C9EC2061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F34A4E-4BD5-E1F1-C3A0-3DC91A93B0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537859-970E-FB18-6A82-DA84DA042B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3287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4297680"/>
            <a:ext cx="9144000" cy="73152"/>
          </a:xfrm>
          <a:prstGeom prst="rect">
            <a:avLst/>
          </a:prstGeom>
          <a:solidFill>
            <a:srgbClr val="6FCF57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731520"/>
            <a:ext cx="2103120" cy="2103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0080"/>
            <a:ext cx="5486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CLASIFICACIÓN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AUTOMÁTICA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 RESIDUOS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457200" y="39090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Juan Gómez Díaz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00800" y="3200400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6FCF57">
              <a:alpha val="60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6"/>
          <p:cNvSpPr/>
          <p:nvPr/>
        </p:nvSpPr>
        <p:spPr>
          <a:xfrm>
            <a:off x="6400800" y="32004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Cartón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315200" y="3200400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6FCF57">
              <a:alpha val="60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7315200" y="32004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Vidrio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8229600" y="3200400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6FCF57">
              <a:alpha val="60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0"/>
          <p:cNvSpPr/>
          <p:nvPr/>
        </p:nvSpPr>
        <p:spPr>
          <a:xfrm>
            <a:off x="8229600" y="32004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Metal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00800" y="3611880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6FCF57">
              <a:alpha val="60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6400800" y="36118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Papel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315200" y="3611880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6FCF57">
              <a:alpha val="60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/>
          <p:nvPr/>
        </p:nvSpPr>
        <p:spPr>
          <a:xfrm>
            <a:off x="7315200" y="36118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Plástico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8229600" y="3611880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6FCF57">
              <a:alpha val="60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6"/>
          <p:cNvSpPr/>
          <p:nvPr/>
        </p:nvSpPr>
        <p:spPr>
          <a:xfrm>
            <a:off x="8229600" y="36118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Basura</a:t>
            </a:r>
            <a:endParaRPr lang="en-US" sz="9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5970D2F-A26E-DE47-BF12-15545F7FCBBA}"/>
              </a:ext>
            </a:extLst>
          </p:cNvPr>
          <p:cNvSpPr/>
          <p:nvPr/>
        </p:nvSpPr>
        <p:spPr>
          <a:xfrm>
            <a:off x="4572000" y="3886200"/>
            <a:ext cx="13478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 profundo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¿POR QUÉ NECESITAMOS ESTO?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3200400" cy="2377440"/>
          </a:xfrm>
          <a:prstGeom prst="rect">
            <a:avLst/>
          </a:prstGeom>
          <a:solidFill>
            <a:srgbClr val="1B3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365760" y="13258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6FCF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2.1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365760" y="25603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 millones de toneladas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residuos generados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año en el mundo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840480" y="1188720"/>
            <a:ext cx="2423160" cy="2377440"/>
          </a:xfrm>
          <a:prstGeom prst="rect">
            <a:avLst/>
          </a:prstGeom>
          <a:solidFill>
            <a:srgbClr val="B85042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3931920" y="12344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CLASIFICACIÓN MANUAL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977640" y="1783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Lento y caro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77640" y="2167128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Alta tasa de error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977640" y="2551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No escalable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77640" y="2935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Dependencia humana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1188720"/>
            <a:ext cx="2423160" cy="2377440"/>
          </a:xfrm>
          <a:prstGeom prst="rect">
            <a:avLst/>
          </a:prstGeom>
          <a:solidFill>
            <a:srgbClr val="2C5F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6537960" y="12344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CLASIFICACIÓN AUTOMÁTICA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583680" y="1783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Rápido y eficiente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0" y="2167128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Alta precisión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83680" y="2551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Escalable al 100%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2935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Consistente 24/7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3749040"/>
            <a:ext cx="8412480" cy="777240"/>
          </a:xfrm>
          <a:prstGeom prst="rect">
            <a:avLst/>
          </a:prstGeom>
          <a:solidFill>
            <a:srgbClr val="6FCF57">
              <a:alpha val="80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457200" y="376732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Clasificador de residuos en 6 categorías — Cartón · Vidrio · Metal · Papel · Plástico · Basura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METODOLOGÍA Y DATASET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2560320" cy="1188720"/>
          </a:xfrm>
          <a:prstGeom prst="rect">
            <a:avLst/>
          </a:prstGeom>
          <a:solidFill>
            <a:srgbClr val="EEF6EA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64008" cy="1188720"/>
          </a:xfrm>
          <a:prstGeom prst="rect">
            <a:avLst/>
          </a:prstGeom>
          <a:solidFill>
            <a:srgbClr val="6FCF57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30352" y="126187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3A2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~2,500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30352" y="18288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imágenes reales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1188720"/>
            <a:ext cx="2560320" cy="1188720"/>
          </a:xfrm>
          <a:prstGeom prst="rect">
            <a:avLst/>
          </a:prstGeom>
          <a:solidFill>
            <a:srgbClr val="EEF6EA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3200400" y="1188720"/>
            <a:ext cx="64008" cy="1188720"/>
          </a:xfrm>
          <a:prstGeom prst="rect">
            <a:avLst/>
          </a:prstGeom>
          <a:solidFill>
            <a:srgbClr val="6FCF57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3364992" y="126187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3A2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3364992" y="18288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 distintas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188720"/>
            <a:ext cx="2560320" cy="1188720"/>
          </a:xfrm>
          <a:prstGeom prst="rect">
            <a:avLst/>
          </a:prstGeom>
          <a:solidFill>
            <a:srgbClr val="EEF6EA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6035040" y="1188720"/>
            <a:ext cx="64008" cy="1188720"/>
          </a:xfrm>
          <a:prstGeom prst="rect">
            <a:avLst/>
          </a:prstGeom>
          <a:solidFill>
            <a:srgbClr val="6FCF57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6199632" y="126187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3A2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80/10/10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199632" y="18288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 / test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DEL SISTEMA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65760" y="2971800"/>
            <a:ext cx="1920240" cy="1188720"/>
          </a:xfrm>
          <a:prstGeom prst="rect">
            <a:avLst/>
          </a:prstGeom>
          <a:solidFill>
            <a:srgbClr val="1B3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365760" y="297180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Residuo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304288" y="338328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FCF57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514600" y="2971800"/>
            <a:ext cx="1920240" cy="1188720"/>
          </a:xfrm>
          <a:prstGeom prst="rect">
            <a:avLst/>
          </a:prstGeom>
          <a:solidFill>
            <a:srgbClr val="1B3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2514600" y="297180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procesado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453128" y="338328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FCF57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4663440" y="2971800"/>
            <a:ext cx="1920240" cy="1188720"/>
          </a:xfrm>
          <a:prstGeom prst="rect">
            <a:avLst/>
          </a:prstGeom>
          <a:solidFill>
            <a:srgbClr val="1B3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4663440" y="297180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601968" y="338328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FCF57"/>
                </a:solidFill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812280" y="2971800"/>
            <a:ext cx="1920240" cy="1188720"/>
          </a:xfrm>
          <a:prstGeom prst="rect">
            <a:avLst/>
          </a:prstGeom>
          <a:solidFill>
            <a:srgbClr val="1B3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6812280" y="297180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4297680"/>
            <a:ext cx="8412480" cy="59436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9" name="Text 27"/>
          <p:cNvSpPr/>
          <p:nvPr/>
        </p:nvSpPr>
        <p:spPr>
          <a:xfrm>
            <a:off x="457200" y="42976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FC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principal: Accuracy = predicciones correctas / total de predicciones  ·  También: Precision, Recall y F1-score por clase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062" y="0"/>
            <a:ext cx="9144000" cy="100584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EVOLUCIÓN DE MODELOS</a:t>
            </a:r>
            <a:endParaRPr lang="en-US" sz="22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657829344"/>
              </p:ext>
            </p:extLst>
          </p:nvPr>
        </p:nvGraphicFramePr>
        <p:xfrm>
          <a:off x="274320" y="1097280"/>
          <a:ext cx="53035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852160" y="1097280"/>
            <a:ext cx="3017520" cy="804672"/>
          </a:xfrm>
          <a:prstGeom prst="rect">
            <a:avLst/>
          </a:prstGeom>
          <a:solidFill>
            <a:srgbClr val="1B3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Text 3"/>
          <p:cNvSpPr/>
          <p:nvPr/>
        </p:nvSpPr>
        <p:spPr>
          <a:xfrm>
            <a:off x="5943600" y="1115568"/>
            <a:ext cx="1005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  0,45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995160" y="1115568"/>
            <a:ext cx="1737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Logística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(features lineales insuficientes)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852160" y="1993392"/>
            <a:ext cx="3017520" cy="804672"/>
          </a:xfrm>
          <a:prstGeom prst="rect">
            <a:avLst/>
          </a:prstGeom>
          <a:solidFill>
            <a:srgbClr val="1B3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Text 6"/>
          <p:cNvSpPr/>
          <p:nvPr/>
        </p:nvSpPr>
        <p:spPr>
          <a:xfrm>
            <a:off x="6080760" y="2003679"/>
            <a:ext cx="777240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        0,6640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995160" y="2011680"/>
            <a:ext cx="1737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 relaciones espaciales)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5852160" y="2889504"/>
            <a:ext cx="3017520" cy="804672"/>
          </a:xfrm>
          <a:prstGeom prst="rect">
            <a:avLst/>
          </a:prstGeom>
          <a:solidFill>
            <a:srgbClr val="2C5F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/>
          <p:nvPr/>
        </p:nvSpPr>
        <p:spPr>
          <a:xfrm>
            <a:off x="6080760" y="2915303"/>
            <a:ext cx="777240" cy="545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  0,8538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995160" y="2907792"/>
            <a:ext cx="1737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desde cero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(representa patrones visuales)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852160" y="3785616"/>
            <a:ext cx="3017520" cy="804672"/>
          </a:xfrm>
          <a:prstGeom prst="rect">
            <a:avLst/>
          </a:prstGeom>
          <a:solidFill>
            <a:srgbClr val="6FCF57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5943600" y="3905957"/>
            <a:ext cx="1005840" cy="563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2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 0,9051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995160" y="3803904"/>
            <a:ext cx="1737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B3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DenseNet121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1B3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(Transfer Learning)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RETOS Y PROBLEMAS ENCONTRADOS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788920" cy="3566160"/>
          </a:xfrm>
          <a:prstGeom prst="rect">
            <a:avLst/>
          </a:prstGeom>
          <a:solidFill>
            <a:srgbClr val="1B3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54864" cy="3566160"/>
          </a:xfrm>
          <a:prstGeom prst="rect">
            <a:avLst/>
          </a:prstGeom>
          <a:solidFill>
            <a:srgbClr val="6FCF57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448056" y="1280160"/>
            <a:ext cx="2587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Sobreajuste constante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8056" y="1856232"/>
            <a:ext cx="2468880" cy="27432"/>
          </a:xfrm>
          <a:prstGeom prst="rect">
            <a:avLst/>
          </a:prstGeom>
          <a:solidFill>
            <a:srgbClr val="6FCF57">
              <a:alpha val="50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448056" y="2011680"/>
            <a:ext cx="258775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CDD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 todos los modelos memorizaban el train (&gt;99%) sin generalizar bien al test. Lo combatimos con Dropout en las capas densas, ReduceLROnPlateau para ajustar el learning rate automáticamente y EarlyStopping para restaurar el mejor checkpoint.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1143000"/>
            <a:ext cx="2788920" cy="3566160"/>
          </a:xfrm>
          <a:prstGeom prst="rect">
            <a:avLst/>
          </a:prstGeom>
          <a:solidFill>
            <a:srgbClr val="B85042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3246120" y="1143000"/>
            <a:ext cx="54864" cy="3566160"/>
          </a:xfrm>
          <a:prstGeom prst="rect">
            <a:avLst/>
          </a:prstGeom>
          <a:solidFill>
            <a:srgbClr val="6FCF57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3374136" y="1280160"/>
            <a:ext cx="2587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clase 'Basura' es casi inclasificable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74136" y="1856232"/>
            <a:ext cx="2468880" cy="27432"/>
          </a:xfrm>
          <a:prstGeom prst="rect">
            <a:avLst/>
          </a:prstGeom>
          <a:solidFill>
            <a:srgbClr val="6FCF57">
              <a:alpha val="50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3374136" y="2011680"/>
            <a:ext cx="258775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CDD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clase más difícil de todas: agrupa objetos muy heterogéneos que no encajan en ninguna otra categoría, por lo que no tiene un patrón visual claro. Ningún modelo consigue superar el 80% de recall en ella, ni siquiera DenseNet121.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1143000"/>
            <a:ext cx="2788920" cy="3566160"/>
          </a:xfrm>
          <a:prstGeom prst="rect">
            <a:avLst/>
          </a:prstGeom>
          <a:solidFill>
            <a:srgbClr val="2C5F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6172200" y="1143000"/>
            <a:ext cx="54864" cy="3566160"/>
          </a:xfrm>
          <a:prstGeom prst="rect">
            <a:avLst/>
          </a:prstGeom>
          <a:solidFill>
            <a:srgbClr val="6FCF57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300216" y="1280160"/>
            <a:ext cx="2587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parámetros ≠ mejor resultado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0216" y="1856232"/>
            <a:ext cx="2468880" cy="27432"/>
          </a:xfrm>
          <a:prstGeom prst="rect">
            <a:avLst/>
          </a:prstGeom>
          <a:solidFill>
            <a:srgbClr val="6FCF57">
              <a:alpha val="50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6300216" y="2011680"/>
            <a:ext cx="258775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CDD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Models 4 y 5 eran más grandes que el Model 3 pero rendían peor en test. Aumentar el ancho de red sin criterio no ayuda — la arquitectura y la regularización importan más que el número bruto de parámetros.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3A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6FCF57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B3A2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MEJOR MODELO: DenseNet121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2926080" cy="3200400"/>
          </a:xfrm>
          <a:prstGeom prst="rect">
            <a:avLst/>
          </a:prstGeom>
          <a:solidFill>
            <a:srgbClr val="2C5F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365760" y="128016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6FCF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0,9051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365760" y="2606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ACCURACY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063240"/>
            <a:ext cx="2194560" cy="36576"/>
          </a:xfrm>
          <a:prstGeom prst="rect">
            <a:avLst/>
          </a:prstGeom>
          <a:solidFill>
            <a:srgbClr val="6FCF57">
              <a:alpha val="50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3566160" y="11430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FCF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POR CLASE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26164"/>
              </p:ext>
            </p:extLst>
          </p:nvPr>
        </p:nvGraphicFramePr>
        <p:xfrm>
          <a:off x="3566160" y="1508760"/>
          <a:ext cx="5303520" cy="2432304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6FCF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6FCF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6FCF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6FCF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Plástico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Basura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6B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3566160" y="4389120"/>
            <a:ext cx="1600200" cy="457200"/>
          </a:xfrm>
          <a:prstGeom prst="rect">
            <a:avLst/>
          </a:prstGeom>
          <a:solidFill>
            <a:srgbClr val="3D6B5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0"/>
          <p:cNvSpPr/>
          <p:nvPr/>
        </p:nvSpPr>
        <p:spPr>
          <a:xfrm>
            <a:off x="3566160" y="43891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3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Train: 0,9960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349240" y="4389120"/>
            <a:ext cx="1600200" cy="457200"/>
          </a:xfrm>
          <a:prstGeom prst="rect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5349240" y="43891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3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Val: 0,9289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132320" y="4389120"/>
            <a:ext cx="1600200" cy="457200"/>
          </a:xfrm>
          <a:prstGeom prst="rect">
            <a:avLst/>
          </a:prstGeom>
          <a:solidFill>
            <a:srgbClr val="6FCF57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/>
          <p:nvPr/>
        </p:nvSpPr>
        <p:spPr>
          <a:xfrm>
            <a:off x="7132320" y="43891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3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0,9051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EVALUACIÓN DE ROBUSTEZ Y REPRODUCIBILIDAD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1301327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repitió el entrenamiento de los dos mejores modelos con 4 semillas distintas (42, 123, 7, 99) para estimar la variabilidad real del rendimiento.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" y="1965960"/>
            <a:ext cx="64008" cy="1325880"/>
          </a:xfrm>
          <a:prstGeom prst="rect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02920" y="1965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B3A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EfficientNetB0 — Modelo 8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4505495"/>
              </p:ext>
            </p:extLst>
          </p:nvPr>
        </p:nvGraphicFramePr>
        <p:xfrm>
          <a:off x="320040" y="2331720"/>
          <a:ext cx="4114800" cy="2359152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98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98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Semilla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0,9012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0,9012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0,9985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0,8775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0,9985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0,8893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0,9985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0,9101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0,8765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709160" y="1965960"/>
            <a:ext cx="64008" cy="1325880"/>
          </a:xfrm>
          <a:prstGeom prst="rect">
            <a:avLst/>
          </a:prstGeom>
          <a:solidFill>
            <a:srgbClr val="6FCF57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/>
          <p:nvPr/>
        </p:nvSpPr>
        <p:spPr>
          <a:xfrm>
            <a:off x="4892040" y="19659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B3A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DenseNet121 — Modelo 9</a:t>
            </a:r>
            <a:endParaRPr lang="en-US" sz="12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8394842"/>
              </p:ext>
            </p:extLst>
          </p:nvPr>
        </p:nvGraphicFramePr>
        <p:xfrm>
          <a:off x="4709160" y="2331720"/>
          <a:ext cx="4114800" cy="2359152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98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98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Semilla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0,9012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0,8893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0,8854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0,8893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3A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CF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CF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3A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CF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3A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0,8883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CF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320040" y="4617720"/>
            <a:ext cx="8503920" cy="32004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CONCLUSIONES Y PRÓXIMOS PASOS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3931920" cy="3291840"/>
          </a:xfrm>
          <a:prstGeom prst="rect">
            <a:avLst/>
          </a:prstGeom>
          <a:solidFill>
            <a:srgbClr val="EEF6EA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3931920" cy="457200"/>
          </a:xfrm>
          <a:prstGeom prst="rect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LOGRAMOS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7190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0.9051 de accuracy en test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Validación con 4 semillas distintas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67004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De modelos lineales a Transfer Learning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314553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DenseNet121 como modelo final robusto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621024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Sistema reproducible y escalable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0" y="1143000"/>
            <a:ext cx="4206240" cy="3291840"/>
          </a:xfrm>
          <a:prstGeom prst="rect">
            <a:avLst/>
          </a:prstGeom>
          <a:solidFill>
            <a:srgbClr val="1B3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4572000" y="1143000"/>
            <a:ext cx="4206240" cy="457200"/>
          </a:xfrm>
          <a:prstGeom prst="rect">
            <a:avLst/>
          </a:prstGeom>
          <a:solidFill>
            <a:srgbClr val="6FCF57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4663440" y="1143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B3A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MEJORAS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09160" y="171907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⬆  Data augmentation más agresivo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09160" y="21945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⬆  Más imágenes de la clase 'Basura'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09160" y="267004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⬆  Probar modelos mas eficientes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4572000"/>
            <a:ext cx="8412480" cy="347472"/>
          </a:xfrm>
          <a:prstGeom prst="rect">
            <a:avLst/>
          </a:prstGeom>
          <a:solidFill>
            <a:srgbClr val="6FCF57">
              <a:alpha val="80000"/>
            </a:srgbClr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072BF-8A4B-53CF-1F00-E59316B15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CEABB13-0C4F-0BAB-81AB-0B32C47A5976}"/>
              </a:ext>
            </a:extLst>
          </p:cNvPr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C072457-4629-5CE0-2756-3156EAD6FA7D}"/>
              </a:ext>
            </a:extLst>
          </p:cNvPr>
          <p:cNvSpPr/>
          <p:nvPr/>
        </p:nvSpPr>
        <p:spPr>
          <a:xfrm>
            <a:off x="0" y="4297680"/>
            <a:ext cx="9144000" cy="73152"/>
          </a:xfrm>
          <a:prstGeom prst="rect">
            <a:avLst/>
          </a:prstGeom>
          <a:solidFill>
            <a:srgbClr val="6FCF57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B3B856BF-8D89-CB5C-901B-769D65745E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097280"/>
            <a:ext cx="2103120" cy="2103120"/>
          </a:xfrm>
          <a:prstGeom prst="rect">
            <a:avLst/>
          </a:prstGeom>
        </p:spPr>
      </p:pic>
      <p:sp>
        <p:nvSpPr>
          <p:cNvPr id="20" name="Text 2">
            <a:extLst>
              <a:ext uri="{FF2B5EF4-FFF2-40B4-BE49-F238E27FC236}">
                <a16:creationId xmlns:a16="http://schemas.microsoft.com/office/drawing/2014/main" id="{FA4FAD22-5EC6-DCA8-2684-6467154EA393}"/>
              </a:ext>
            </a:extLst>
          </p:cNvPr>
          <p:cNvSpPr/>
          <p:nvPr/>
        </p:nvSpPr>
        <p:spPr>
          <a:xfrm>
            <a:off x="2160693" y="1996017"/>
            <a:ext cx="1659468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FINAL</a:t>
            </a: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RESIDUOS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3217368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537</Words>
  <Application>Microsoft Office PowerPoint</Application>
  <PresentationFormat>Presentación en pantalla (16:9)</PresentationFormat>
  <Paragraphs>180</Paragraphs>
  <Slides>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3" baseType="lpstr">
      <vt:lpstr>Arial</vt:lpstr>
      <vt:lpstr>Arial Black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Clasificación de Residuos con Deep Learning</dc:title>
  <dc:subject>PptxGenJS Presentation</dc:subject>
  <dc:creator>Juan Gómez Díaz</dc:creator>
  <cp:lastModifiedBy>Juan Gomez Diaz</cp:lastModifiedBy>
  <cp:revision>7</cp:revision>
  <dcterms:created xsi:type="dcterms:W3CDTF">2026-03-30T08:12:10Z</dcterms:created>
  <dcterms:modified xsi:type="dcterms:W3CDTF">2026-03-31T08:10:32Z</dcterms:modified>
</cp:coreProperties>
</file>